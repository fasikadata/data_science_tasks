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Inter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dc57dd03-ff89-4ff4-9062-a918a9db6d68.fntdata" /><ns0:Relationship Id="rIdFont17" Type="http://schemas.openxmlformats.org/officeDocument/2006/relationships/font" Target="fonts/b634503c-4b80-40b0-ba1b-1a856a654d5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60429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215604"/>
            <a:ext cx="49410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DATA SCIENCE &amp; MACHINE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558504"/>
            <a:ext cx="9101137" cy="1188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b="1" sz="3900" i="0" u="none">
                <a:solidFill>
                  <a:srgbClr val="FFFFFF"/>
                </a:solidFill>
                <a:latin typeface="Inter"/>
              </a:rPr>
              <a:t>Household Wealth Index Analysis &amp; Prediction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975645"/>
            <a:ext cx="787003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Socio-economic and geographical analysis of the Abbay Basin region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64209"/>
            <a:ext cx="5181600" cy="2148780"/>
          </a:xfrm>
          <a:prstGeom prst="roundRect">
            <a:avLst>
              <a:gd name="adj" fmla="val 70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64209"/>
            <a:ext cx="5181600" cy="2148780"/>
          </a:xfrm>
          <a:prstGeom prst="roundRect">
            <a:avLst>
              <a:gd name="adj" fmla="val 70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3316634"/>
            <a:ext cx="447675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3316634"/>
            <a:ext cx="447675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33400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Project Objectives &amp;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104900"/>
            <a:ext cx="11430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Analyzing household living standards through key socioeconomic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25" y="3850034"/>
            <a:ext cx="587573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Dataset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4211984"/>
            <a:ext cx="4572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Extracted from DHS survey data (abbay-basin_2.dta) containing 2,882 households and 9 selected features.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850034"/>
            <a:ext cx="55911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Core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4211984"/>
            <a:ext cx="4572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Predict household wealth index (hv270) using assets, water source, electricity, and location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205162"/>
            <a:ext cx="340355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205162"/>
            <a:ext cx="340355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205162"/>
            <a:ext cx="340355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33400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Data Preprocessing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04900"/>
            <a:ext cx="11430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Preparing raw data for machine learning model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481387"/>
            <a:ext cx="374206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1. Feature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824287"/>
            <a:ext cx="29463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Selected electricity, water, toilet type, flooring, urban/rural status, and geo-coordinates.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0375" y="3481387"/>
            <a:ext cx="374206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2. Handling Missing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0375" y="3824287"/>
            <a:ext cx="29463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Used dropna() to clean the dataset, resulting in 2,882 valid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525" y="3481387"/>
            <a:ext cx="374206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3. Label Encoding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525" y="3824287"/>
            <a:ext cx="29463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Converted categorical features into numeric codes for algorithmic compatibility.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48375" y="2286000"/>
            <a:ext cx="5381625" cy="34290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4387" y="3519487"/>
            <a:ext cx="60960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33400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Feature Importance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04900"/>
            <a:ext cx="11430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Key drivers behind household wealth predictions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38487"/>
            <a:ext cx="5000625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• Geographical coordinates (Latitude &amp; Longitude) and drinking water source (hv201) are top predictive factors.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233862"/>
            <a:ext cx="500062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• Electricity access and flooring quality strongly correlate with upper wealth brackets.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3484" y="4281487"/>
            <a:ext cx="3631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64748B"/>
                </a:solidFill>
                <a:latin typeface="Inter"/>
              </a:rPr>
              <a:t>Random Forest Feature Importance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86087"/>
            <a:ext cx="5181600" cy="2105025"/>
          </a:xfrm>
          <a:prstGeom prst="roundRect">
            <a:avLst>
              <a:gd name="adj" fmla="val 72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43237"/>
            <a:ext cx="5181600" cy="1990725"/>
          </a:xfrm>
          <a:prstGeom prst="roundRect">
            <a:avLst>
              <a:gd name="adj" fmla="val 76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Model Training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04900"/>
            <a:ext cx="11430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Random Forest Classifier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4831" y="3338512"/>
            <a:ext cx="559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64748B"/>
                </a:solidFill>
                <a:latin typeface="Inter"/>
              </a:rPr>
              <a:t>Model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4831" y="3652837"/>
            <a:ext cx="5595937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284C7"/>
                </a:solidFill>
                <a:latin typeface="Inter"/>
              </a:rPr>
              <a:t>61.4%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4831" y="4538662"/>
            <a:ext cx="559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Evaluated on test split (577 samples)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395662"/>
            <a:ext cx="55911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Classification Report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795712"/>
            <a:ext cx="4572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•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Richest Category: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Achieved 87% F1-score with high precision.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4424362"/>
            <a:ext cx="55911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•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Poorest Category: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Achieved 71% F1-score.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14650"/>
            <a:ext cx="5181600" cy="2247900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205162"/>
            <a:ext cx="518160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300" y="3557587"/>
            <a:ext cx="685800" cy="60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533400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Excel Analytics: Water Source vs. Wealth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104900"/>
            <a:ext cx="11430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Insights derived from Asmarech.xlsx Pivot Table &amp;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5" y="3267075"/>
            <a:ext cx="587573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25" y="3667125"/>
            <a:ext cx="4572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• Richest households predominantly access piped water into their dwelling or yard.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4295775"/>
            <a:ext cx="4572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• Poorer households rely heavily on protected or unprotected wells and boreholes.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1231" y="4319587"/>
            <a:ext cx="559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64748B"/>
                </a:solidFill>
                <a:latin typeface="Inter"/>
              </a:rPr>
              <a:t>Drinking Water Source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333750"/>
            <a:ext cx="52197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333750"/>
            <a:ext cx="52197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Additional Insights: Electricity &amp; Geography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04900"/>
            <a:ext cx="11430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Electricity access percentage and spatial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225" y="3609975"/>
            <a:ext cx="612576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Electricity vs. Wealth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952875"/>
            <a:ext cx="4762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Electricity access percentage increases dramatically across higher wealth quintiles.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3609975"/>
            <a:ext cx="57054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Geographical Spread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3952875"/>
            <a:ext cx="4762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Scatter plots reveal distinct spatial clustering of household wealth indices across coordinates.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26990"/>
            <a:ext cx="5181600" cy="2423070"/>
          </a:xfrm>
          <a:prstGeom prst="roundRect">
            <a:avLst>
              <a:gd name="adj" fmla="val 628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64209"/>
            <a:ext cx="5181600" cy="2148780"/>
          </a:xfrm>
          <a:prstGeom prst="roundRect">
            <a:avLst>
              <a:gd name="adj" fmla="val 70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3179415"/>
            <a:ext cx="447675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3316634"/>
            <a:ext cx="447675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33400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System Deployment (Streamlit App)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104900"/>
            <a:ext cx="11430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Interactive prediction app powered by wealth_model.pkl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25" y="3712815"/>
            <a:ext cx="587573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User Interface (UI)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4074765"/>
            <a:ext cx="45720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Allows users to input water source, electricity, and location parameters to instantly predict household wealth.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850034"/>
            <a:ext cx="55911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Pickle Serialization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4211984"/>
            <a:ext cx="45720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The trained Random Forest model is saved and loaded seamlessly within the Streamlit web framework.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67400" y="4071937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89561" y="2747962"/>
            <a:ext cx="3012876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FFFFF"/>
                </a:solidFill>
                <a:latin typeface="Inter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38562" y="3452812"/>
            <a:ext cx="4714875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Questions and feedback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